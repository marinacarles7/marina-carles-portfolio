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
  </p:notesMasterIdLst>
  <p:sldIdLst>
    <p:sldId id="256" r:id="rId2"/>
    <p:sldId id="257" r:id="rId3"/>
    <p:sldId id="258" r:id="rId4"/>
    <p:sldId id="265" r:id="rId5"/>
    <p:sldId id="266" r:id="rId6"/>
    <p:sldId id="262" r:id="rId7"/>
    <p:sldId id="263" r:id="rId8"/>
  </p:sldIdLst>
  <p:sldSz cx="18288000" cy="10287000"/>
  <p:notesSz cx="6858000" cy="9144000"/>
  <p:embeddedFontLst>
    <p:embeddedFont>
      <p:font typeface="TT Drugs" panose="02000503060000020003" pitchFamily="2" charset="77"/>
      <p:regular r:id=""/>
    </p:embeddedFont>
    <p:embeddedFont>
      <p:font typeface="TT Drugs Bold" panose="02000803060000020003" pitchFamily="2" charset="77"/>
      <p:regular r:id=""/>
      <p:bold r:id=""/>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autoAdjust="0"/>
    <p:restoredTop sz="94612" autoAdjust="0"/>
  </p:normalViewPr>
  <p:slideViewPr>
    <p:cSldViewPr>
      <p:cViewPr varScale="1">
        <p:scale>
          <a:sx n="76" d="100"/>
          <a:sy n="76" d="100"/>
        </p:scale>
        <p:origin x="920"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Based on Objective 1, we ran a correlations test to identify which factors most strongly influence purchase intention. Our dependent variable (Q7) measures how likely someone is to choose a Cambodian brand over their favorite brand if the quality were the same, making it the best indicator of purchase intention for our analysis. To understand what perceptions might shape that intention, we selected three  independent variables: Q5, which captures consumers’ overall confidence in buying a product labeled ‘Made in Cambodia’; Q4, which measures how the product’s quality is perceived based on the survey images; and Q2, which reflects whether consumers believe Cambodian products demonstrate strong craftsmanship.</a:t>
            </a:r>
          </a:p>
          <a:p>
            <a:endParaRPr lang="en-US" dirty="0"/>
          </a:p>
          <a:p>
            <a:r>
              <a:rPr lang="en-US" dirty="0"/>
              <a:t>Overall confidence in clothing quality regarding a product with a ‘Made in Cambodia’ label had a strong positive correlation with Q7 (purchase intention ) with an </a:t>
            </a:r>
            <a:r>
              <a:rPr lang="en-US" dirty="0" err="1"/>
              <a:t>r-value</a:t>
            </a:r>
            <a:r>
              <a:rPr lang="en-US" dirty="0"/>
              <a:t> of .463 and a  p &lt; .05.</a:t>
            </a:r>
          </a:p>
          <a:p>
            <a:endParaRPr lang="en-US" dirty="0"/>
          </a:p>
          <a:p>
            <a:r>
              <a:rPr lang="en-US" dirty="0"/>
              <a:t>Perceived quality based on the photos shown in the survey had a moderate correlation with purchase intention, with an </a:t>
            </a:r>
            <a:r>
              <a:rPr lang="en-US" dirty="0" err="1"/>
              <a:t>r-value</a:t>
            </a:r>
            <a:r>
              <a:rPr lang="en-US" dirty="0"/>
              <a:t> of .385 and a p &lt; .05. </a:t>
            </a:r>
          </a:p>
          <a:p>
            <a:endParaRPr lang="en-US" dirty="0"/>
          </a:p>
          <a:p>
            <a:endParaRPr lang="en-US" dirty="0"/>
          </a:p>
          <a:p>
            <a:r>
              <a:rPr lang="en-US" dirty="0"/>
              <a:t>Overall purchase confidence, confidence that the product will match the photos online, and confidence that the clothing would fit all showed moderate correlations with  purchase intention with the r- values being 0.358, 0.349, and 0.348 and all the p-values being &lt;0.05.</a:t>
            </a:r>
          </a:p>
          <a:p>
            <a:endParaRPr lang="en-US" dirty="0"/>
          </a:p>
          <a:p>
            <a:r>
              <a:rPr lang="en-US" dirty="0"/>
              <a:t>Cambodian made products show strong craftsmanship had a slight correlation with purchase intention with an </a:t>
            </a:r>
            <a:r>
              <a:rPr lang="en-US" dirty="0" err="1"/>
              <a:t>r-value</a:t>
            </a:r>
            <a:r>
              <a:rPr lang="en-US" dirty="0"/>
              <a:t> of 0.255 and a p-value &lt;0.05.</a:t>
            </a:r>
          </a:p>
          <a:p>
            <a:endParaRPr lang="en-US" dirty="0"/>
          </a:p>
          <a:p>
            <a:r>
              <a:rPr lang="en-US" dirty="0"/>
              <a:t>Based on these findings we recommend Re-Made in Cambodia to focus their marketing strategy on  showcasing:</a:t>
            </a:r>
          </a:p>
          <a:p>
            <a:r>
              <a:rPr lang="en-US" dirty="0"/>
              <a:t>-Quality demonstrated through clear visuals of the stitching, fabric, and other key garment details</a:t>
            </a:r>
          </a:p>
          <a:p>
            <a:r>
              <a:rPr lang="en-US" dirty="0"/>
              <a:t>-How the garments fit on different sized models</a:t>
            </a:r>
          </a:p>
          <a:p>
            <a:r>
              <a:rPr lang="en-US" dirty="0"/>
              <a:t> -Short stories of the Cambodian artisans behind the products on social media </a:t>
            </a:r>
          </a:p>
          <a:p>
            <a:r>
              <a:rPr lang="en-US" dirty="0"/>
              <a:t> -The upcycling and design techniques used to transform discarded textiles into new, creative fashion pieces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Based on Objective 1, we ran a correlations test to identify which factors most strongly influence purchase intention. Our dependent variable (Q7) measures how likely someone is to choose a Cambodian brand over their favorite brand if the quality were the same, making it the best indicator of purchase intention for our analysis. To understand what perceptions might shape that intention, we selected three  independent variables: Q5, which captures consumers’ overall confidence in buying a product labeled ‘Made in Cambodia’; Q4, which measures how the product’s quality is perceived based on the survey images; and Q2, which reflects whether consumers believe Cambodian products demonstrate strong craftsmanship.</a:t>
            </a:r>
          </a:p>
          <a:p>
            <a:endParaRPr lang="en-US" dirty="0"/>
          </a:p>
          <a:p>
            <a:r>
              <a:rPr lang="en-US" dirty="0"/>
              <a:t>Overall confidence in the clothing quality of a product labeled ‘Made in Cambodia’ had a strong positive correlation with Q7 (purchase intention ) with an </a:t>
            </a:r>
            <a:r>
              <a:rPr lang="en-US" dirty="0" err="1"/>
              <a:t>r-value</a:t>
            </a:r>
            <a:r>
              <a:rPr lang="en-US" dirty="0"/>
              <a:t> of .463 and a  p &lt; .05.</a:t>
            </a:r>
          </a:p>
          <a:p>
            <a:endParaRPr lang="en-US" dirty="0"/>
          </a:p>
          <a:p>
            <a:r>
              <a:rPr lang="en-US" dirty="0"/>
              <a:t>Perceived quality based on the photos shown in the survey had a moderate correlation with purchase intention, with an </a:t>
            </a:r>
            <a:r>
              <a:rPr lang="en-US" dirty="0" err="1"/>
              <a:t>r-value</a:t>
            </a:r>
            <a:r>
              <a:rPr lang="en-US" dirty="0"/>
              <a:t> of .385 and a p &lt; .05. </a:t>
            </a:r>
          </a:p>
          <a:p>
            <a:endParaRPr lang="en-US" dirty="0"/>
          </a:p>
          <a:p>
            <a:endParaRPr lang="en-US" dirty="0"/>
          </a:p>
          <a:p>
            <a:r>
              <a:rPr lang="en-US" dirty="0"/>
              <a:t>Overall purchase confidence, confidence that the product will match the photos online, and confidence that the clothing will fit each showed moderate correlations with  purchase intention with the r- values being 0.358, 0.349, and 0.348 and the p-values all being &lt;0.05.</a:t>
            </a:r>
          </a:p>
          <a:p>
            <a:endParaRPr lang="en-US" dirty="0"/>
          </a:p>
          <a:p>
            <a:r>
              <a:rPr lang="en-US" dirty="0"/>
              <a:t>Cambodian made products show strong craftsmanship had a slight correlation with purchase intention with an </a:t>
            </a:r>
            <a:r>
              <a:rPr lang="en-US" dirty="0" err="1"/>
              <a:t>r-value</a:t>
            </a:r>
            <a:r>
              <a:rPr lang="en-US" dirty="0"/>
              <a:t> of 0.255 and a p-value &lt;0.05.</a:t>
            </a:r>
          </a:p>
          <a:p>
            <a:endParaRPr lang="en-US" dirty="0"/>
          </a:p>
          <a:p>
            <a:r>
              <a:rPr lang="en-US" dirty="0"/>
              <a:t>Based on these findings we recommend Re-Made in Cambodia to focus their marketing strategy on  showcasing:</a:t>
            </a:r>
          </a:p>
          <a:p>
            <a:r>
              <a:rPr lang="en-US" dirty="0"/>
              <a:t>-Quality demonstrated through clear visuals of the stitching, fabric, and other key garment details</a:t>
            </a:r>
          </a:p>
          <a:p>
            <a:r>
              <a:rPr lang="en-US" dirty="0"/>
              <a:t>-How the garments fit on different sized models</a:t>
            </a:r>
          </a:p>
          <a:p>
            <a:r>
              <a:rPr lang="en-US" dirty="0"/>
              <a:t> -Short stories of the Cambodian artisans behind the products on social media </a:t>
            </a:r>
          </a:p>
          <a:p>
            <a:r>
              <a:rPr lang="en-US" dirty="0"/>
              <a:t> -The upcycling and design techniques used to transform discarded textiles into new, creative fashion pieces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3330439"/>
            <a:ext cx="18946410" cy="3520900"/>
            <a:chOff x="0" y="0"/>
            <a:chExt cx="4990001" cy="927315"/>
          </a:xfrm>
        </p:grpSpPr>
        <p:sp>
          <p:nvSpPr>
            <p:cNvPr id="3" name="Freeform 3"/>
            <p:cNvSpPr/>
            <p:nvPr/>
          </p:nvSpPr>
          <p:spPr>
            <a:xfrm>
              <a:off x="0" y="0"/>
              <a:ext cx="4990001" cy="927315"/>
            </a:xfrm>
            <a:custGeom>
              <a:avLst/>
              <a:gdLst/>
              <a:ahLst/>
              <a:cxnLst/>
              <a:rect l="l" t="t" r="r" b="b"/>
              <a:pathLst>
                <a:path w="4990001" h="927315">
                  <a:moveTo>
                    <a:pt x="6538" y="0"/>
                  </a:moveTo>
                  <a:lnTo>
                    <a:pt x="4983463" y="0"/>
                  </a:lnTo>
                  <a:cubicBezTo>
                    <a:pt x="4985197" y="0"/>
                    <a:pt x="4986860" y="689"/>
                    <a:pt x="4988086" y="1915"/>
                  </a:cubicBezTo>
                  <a:cubicBezTo>
                    <a:pt x="4989313" y="3141"/>
                    <a:pt x="4990001" y="4804"/>
                    <a:pt x="4990001" y="6538"/>
                  </a:cubicBezTo>
                  <a:lnTo>
                    <a:pt x="4990001" y="920777"/>
                  </a:lnTo>
                  <a:cubicBezTo>
                    <a:pt x="4990001" y="922511"/>
                    <a:pt x="4989313" y="924174"/>
                    <a:pt x="4988086" y="925400"/>
                  </a:cubicBezTo>
                  <a:cubicBezTo>
                    <a:pt x="4986860" y="926626"/>
                    <a:pt x="4985197" y="927315"/>
                    <a:pt x="4983463" y="927315"/>
                  </a:cubicBezTo>
                  <a:lnTo>
                    <a:pt x="6538" y="927315"/>
                  </a:lnTo>
                  <a:cubicBezTo>
                    <a:pt x="4804" y="927315"/>
                    <a:pt x="3141" y="926626"/>
                    <a:pt x="1915" y="925400"/>
                  </a:cubicBezTo>
                  <a:cubicBezTo>
                    <a:pt x="689" y="924174"/>
                    <a:pt x="0" y="922511"/>
                    <a:pt x="0" y="920777"/>
                  </a:cubicBezTo>
                  <a:lnTo>
                    <a:pt x="0" y="6538"/>
                  </a:lnTo>
                  <a:cubicBezTo>
                    <a:pt x="0" y="4804"/>
                    <a:pt x="689" y="3141"/>
                    <a:pt x="1915" y="1915"/>
                  </a:cubicBezTo>
                  <a:cubicBezTo>
                    <a:pt x="3141" y="689"/>
                    <a:pt x="4804" y="0"/>
                    <a:pt x="6538" y="0"/>
                  </a:cubicBezTo>
                  <a:close/>
                </a:path>
              </a:pathLst>
            </a:custGeom>
            <a:solidFill>
              <a:srgbClr val="E963B5"/>
            </a:solidFill>
          </p:spPr>
          <p:txBody>
            <a:bodyPr/>
            <a:lstStyle/>
            <a:p>
              <a:endParaRPr lang="en-US"/>
            </a:p>
          </p:txBody>
        </p:sp>
        <p:sp>
          <p:nvSpPr>
            <p:cNvPr id="4" name="TextBox 4"/>
            <p:cNvSpPr txBox="1"/>
            <p:nvPr/>
          </p:nvSpPr>
          <p:spPr>
            <a:xfrm>
              <a:off x="0" y="19050"/>
              <a:ext cx="4990001" cy="908265"/>
            </a:xfrm>
            <a:prstGeom prst="rect">
              <a:avLst/>
            </a:prstGeom>
          </p:spPr>
          <p:txBody>
            <a:bodyPr lIns="50800" tIns="50800" rIns="50800" bIns="50800" rtlCol="0" anchor="ctr"/>
            <a:lstStyle/>
            <a:p>
              <a:pPr algn="ctr">
                <a:lnSpc>
                  <a:spcPts val="2616"/>
                </a:lnSpc>
              </a:pPr>
              <a:endParaRPr/>
            </a:p>
          </p:txBody>
        </p:sp>
      </p:grpSp>
      <p:sp>
        <p:nvSpPr>
          <p:cNvPr id="8" name="TextBox 8"/>
          <p:cNvSpPr txBox="1"/>
          <p:nvPr/>
        </p:nvSpPr>
        <p:spPr>
          <a:xfrm>
            <a:off x="323993" y="3117910"/>
            <a:ext cx="11696665" cy="5796624"/>
          </a:xfrm>
          <a:prstGeom prst="rect">
            <a:avLst/>
          </a:prstGeom>
        </p:spPr>
        <p:txBody>
          <a:bodyPr lIns="0" tIns="0" rIns="0" bIns="0" rtlCol="0" anchor="t">
            <a:spAutoFit/>
          </a:bodyPr>
          <a:lstStyle/>
          <a:p>
            <a:pPr algn="just">
              <a:lnSpc>
                <a:spcPts val="15107"/>
              </a:lnSpc>
            </a:pPr>
            <a:r>
              <a:rPr lang="en-US" sz="13988" b="1">
                <a:solidFill>
                  <a:srgbClr val="FFFFFF"/>
                </a:solidFill>
                <a:latin typeface="TT Drugs Bold"/>
                <a:ea typeface="TT Drugs Bold"/>
                <a:cs typeface="TT Drugs Bold"/>
                <a:sym typeface="TT Drugs Bold"/>
              </a:rPr>
              <a:t>Marketing Presentation  </a:t>
            </a:r>
          </a:p>
        </p:txBody>
      </p:sp>
      <p:sp>
        <p:nvSpPr>
          <p:cNvPr id="9" name="Freeform 9"/>
          <p:cNvSpPr/>
          <p:nvPr/>
        </p:nvSpPr>
        <p:spPr>
          <a:xfrm rot="-5400000">
            <a:off x="8721639" y="2482598"/>
            <a:ext cx="12001776" cy="4065207"/>
          </a:xfrm>
          <a:custGeom>
            <a:avLst/>
            <a:gdLst/>
            <a:ahLst/>
            <a:cxnLst/>
            <a:rect l="l" t="t" r="r" b="b"/>
            <a:pathLst>
              <a:path w="12001776" h="4065207">
                <a:moveTo>
                  <a:pt x="0" y="0"/>
                </a:moveTo>
                <a:lnTo>
                  <a:pt x="12001776" y="0"/>
                </a:lnTo>
                <a:lnTo>
                  <a:pt x="12001776" y="4065207"/>
                </a:lnTo>
                <a:lnTo>
                  <a:pt x="0" y="40652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TextBox 10"/>
          <p:cNvSpPr txBox="1"/>
          <p:nvPr/>
        </p:nvSpPr>
        <p:spPr>
          <a:xfrm>
            <a:off x="1249838" y="7010588"/>
            <a:ext cx="8495383" cy="383638"/>
          </a:xfrm>
          <a:prstGeom prst="rect">
            <a:avLst/>
          </a:prstGeom>
        </p:spPr>
        <p:txBody>
          <a:bodyPr lIns="0" tIns="0" rIns="0" bIns="0" rtlCol="0" anchor="t">
            <a:spAutoFit/>
          </a:bodyPr>
          <a:lstStyle/>
          <a:p>
            <a:pPr algn="just">
              <a:lnSpc>
                <a:spcPts val="2987"/>
              </a:lnSpc>
            </a:pPr>
            <a:r>
              <a:rPr lang="en-US" sz="2766">
                <a:solidFill>
                  <a:srgbClr val="FFFFFF"/>
                </a:solidFill>
                <a:latin typeface="TT Drugs"/>
                <a:ea typeface="TT Drugs"/>
                <a:cs typeface="TT Drugs"/>
                <a:sym typeface="TT Drugs"/>
              </a:rPr>
              <a:t>Marketing research for ReMade in Cambodia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8711428" y="3110896"/>
            <a:ext cx="12001776" cy="4065207"/>
          </a:xfrm>
          <a:custGeom>
            <a:avLst/>
            <a:gdLst/>
            <a:ahLst/>
            <a:cxnLst/>
            <a:rect l="l" t="t" r="r" b="b"/>
            <a:pathLst>
              <a:path w="12001776" h="4065207">
                <a:moveTo>
                  <a:pt x="0" y="0"/>
                </a:moveTo>
                <a:lnTo>
                  <a:pt x="12001776" y="0"/>
                </a:lnTo>
                <a:lnTo>
                  <a:pt x="12001776" y="4065208"/>
                </a:lnTo>
                <a:lnTo>
                  <a:pt x="0" y="4065208"/>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0" y="2964813"/>
            <a:ext cx="18531946" cy="3467968"/>
            <a:chOff x="0" y="0"/>
            <a:chExt cx="4880842" cy="913374"/>
          </a:xfrm>
        </p:grpSpPr>
        <p:sp>
          <p:nvSpPr>
            <p:cNvPr id="4" name="Freeform 4"/>
            <p:cNvSpPr/>
            <p:nvPr/>
          </p:nvSpPr>
          <p:spPr>
            <a:xfrm>
              <a:off x="0" y="0"/>
              <a:ext cx="4880842" cy="913374"/>
            </a:xfrm>
            <a:custGeom>
              <a:avLst/>
              <a:gdLst/>
              <a:ahLst/>
              <a:cxnLst/>
              <a:rect l="l" t="t" r="r" b="b"/>
              <a:pathLst>
                <a:path w="4880842" h="913374">
                  <a:moveTo>
                    <a:pt x="6684" y="0"/>
                  </a:moveTo>
                  <a:lnTo>
                    <a:pt x="4874158" y="0"/>
                  </a:lnTo>
                  <a:cubicBezTo>
                    <a:pt x="4875931" y="0"/>
                    <a:pt x="4877631" y="704"/>
                    <a:pt x="4878884" y="1958"/>
                  </a:cubicBezTo>
                  <a:cubicBezTo>
                    <a:pt x="4880138" y="3211"/>
                    <a:pt x="4880842" y="4911"/>
                    <a:pt x="4880842" y="6684"/>
                  </a:cubicBezTo>
                  <a:lnTo>
                    <a:pt x="4880842" y="906690"/>
                  </a:lnTo>
                  <a:cubicBezTo>
                    <a:pt x="4880842" y="908463"/>
                    <a:pt x="4880138" y="910163"/>
                    <a:pt x="4878884" y="911416"/>
                  </a:cubicBezTo>
                  <a:cubicBezTo>
                    <a:pt x="4877631" y="912670"/>
                    <a:pt x="4875931" y="913374"/>
                    <a:pt x="4874158" y="913374"/>
                  </a:cubicBezTo>
                  <a:lnTo>
                    <a:pt x="6684" y="913374"/>
                  </a:lnTo>
                  <a:cubicBezTo>
                    <a:pt x="4911" y="913374"/>
                    <a:pt x="3211" y="912670"/>
                    <a:pt x="1958" y="911416"/>
                  </a:cubicBezTo>
                  <a:cubicBezTo>
                    <a:pt x="704" y="910163"/>
                    <a:pt x="0" y="908463"/>
                    <a:pt x="0" y="906690"/>
                  </a:cubicBezTo>
                  <a:lnTo>
                    <a:pt x="0" y="6684"/>
                  </a:lnTo>
                  <a:cubicBezTo>
                    <a:pt x="0" y="4911"/>
                    <a:pt x="704" y="3211"/>
                    <a:pt x="1958" y="1958"/>
                  </a:cubicBezTo>
                  <a:cubicBezTo>
                    <a:pt x="3211" y="704"/>
                    <a:pt x="4911" y="0"/>
                    <a:pt x="6684" y="0"/>
                  </a:cubicBezTo>
                  <a:close/>
                </a:path>
              </a:pathLst>
            </a:custGeom>
            <a:solidFill>
              <a:srgbClr val="E963B5"/>
            </a:solidFill>
          </p:spPr>
          <p:txBody>
            <a:bodyPr/>
            <a:lstStyle/>
            <a:p>
              <a:endParaRPr lang="en-US"/>
            </a:p>
          </p:txBody>
        </p:sp>
        <p:sp>
          <p:nvSpPr>
            <p:cNvPr id="5" name="TextBox 5"/>
            <p:cNvSpPr txBox="1"/>
            <p:nvPr/>
          </p:nvSpPr>
          <p:spPr>
            <a:xfrm>
              <a:off x="0" y="19050"/>
              <a:ext cx="4880842" cy="894324"/>
            </a:xfrm>
            <a:prstGeom prst="rect">
              <a:avLst/>
            </a:prstGeom>
          </p:spPr>
          <p:txBody>
            <a:bodyPr lIns="50800" tIns="50800" rIns="50800" bIns="50800" rtlCol="0" anchor="ctr"/>
            <a:lstStyle/>
            <a:p>
              <a:pPr algn="ctr">
                <a:lnSpc>
                  <a:spcPts val="2616"/>
                </a:lnSpc>
              </a:pPr>
              <a:endParaRPr/>
            </a:p>
          </p:txBody>
        </p:sp>
      </p:grpSp>
      <p:grpSp>
        <p:nvGrpSpPr>
          <p:cNvPr id="6" name="Group 6"/>
          <p:cNvGrpSpPr/>
          <p:nvPr/>
        </p:nvGrpSpPr>
        <p:grpSpPr>
          <a:xfrm>
            <a:off x="15951447" y="8083268"/>
            <a:ext cx="793472" cy="787812"/>
            <a:chOff x="0" y="0"/>
            <a:chExt cx="289003" cy="286941"/>
          </a:xfrm>
        </p:grpSpPr>
        <p:sp>
          <p:nvSpPr>
            <p:cNvPr id="7" name="Freeform 7"/>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ln w="28575" cap="rnd">
              <a:solidFill>
                <a:srgbClr val="000000"/>
              </a:solidFill>
              <a:prstDash val="solid"/>
              <a:round/>
            </a:ln>
          </p:spPr>
          <p:txBody>
            <a:bodyPr/>
            <a:lstStyle/>
            <a:p>
              <a:endParaRPr lang="en-US"/>
            </a:p>
          </p:txBody>
        </p:sp>
        <p:sp>
          <p:nvSpPr>
            <p:cNvPr id="8" name="TextBox 8"/>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rot="-5400000">
            <a:off x="16223139" y="8294700"/>
            <a:ext cx="270061" cy="364947"/>
          </a:xfrm>
          <a:custGeom>
            <a:avLst/>
            <a:gdLst/>
            <a:ahLst/>
            <a:cxnLst/>
            <a:rect l="l" t="t" r="r" b="b"/>
            <a:pathLst>
              <a:path w="270061" h="364947">
                <a:moveTo>
                  <a:pt x="0" y="0"/>
                </a:moveTo>
                <a:lnTo>
                  <a:pt x="270061" y="0"/>
                </a:lnTo>
                <a:lnTo>
                  <a:pt x="270061" y="364947"/>
                </a:lnTo>
                <a:lnTo>
                  <a:pt x="0" y="364947"/>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10" name="TextBox 10"/>
          <p:cNvSpPr txBox="1"/>
          <p:nvPr/>
        </p:nvSpPr>
        <p:spPr>
          <a:xfrm>
            <a:off x="10059897" y="3030222"/>
            <a:ext cx="12231598" cy="3293087"/>
          </a:xfrm>
          <a:prstGeom prst="rect">
            <a:avLst/>
          </a:prstGeom>
        </p:spPr>
        <p:txBody>
          <a:bodyPr lIns="0" tIns="0" rIns="0" bIns="0" rtlCol="0" anchor="t">
            <a:spAutoFit/>
          </a:bodyPr>
          <a:lstStyle/>
          <a:p>
            <a:pPr algn="just">
              <a:lnSpc>
                <a:spcPts val="12501"/>
              </a:lnSpc>
            </a:pPr>
            <a:r>
              <a:rPr lang="en-US" sz="13588" b="1">
                <a:solidFill>
                  <a:srgbClr val="FFFFFF"/>
                </a:solidFill>
                <a:latin typeface="TT Drugs Bold"/>
                <a:ea typeface="TT Drugs Bold"/>
                <a:cs typeface="TT Drugs Bold"/>
                <a:sym typeface="TT Drugs Bold"/>
              </a:rPr>
              <a:t>Research Context </a:t>
            </a:r>
          </a:p>
        </p:txBody>
      </p:sp>
      <p:sp>
        <p:nvSpPr>
          <p:cNvPr id="11" name="TextBox 11"/>
          <p:cNvSpPr txBox="1"/>
          <p:nvPr/>
        </p:nvSpPr>
        <p:spPr>
          <a:xfrm>
            <a:off x="1122354" y="3330861"/>
            <a:ext cx="8021646" cy="2831849"/>
          </a:xfrm>
          <a:prstGeom prst="rect">
            <a:avLst/>
          </a:prstGeom>
        </p:spPr>
        <p:txBody>
          <a:bodyPr lIns="0" tIns="0" rIns="0" bIns="0" rtlCol="0" anchor="t">
            <a:spAutoFit/>
          </a:bodyPr>
          <a:lstStyle/>
          <a:p>
            <a:pPr marL="886794" lvl="1" indent="-443397" algn="l">
              <a:lnSpc>
                <a:spcPts val="7680"/>
              </a:lnSpc>
              <a:buFont typeface="Arial"/>
              <a:buChar char="•"/>
            </a:pPr>
            <a:r>
              <a:rPr lang="en-US" sz="4107">
                <a:solidFill>
                  <a:srgbClr val="FFFFFF"/>
                </a:solidFill>
                <a:latin typeface="TT Drugs"/>
                <a:ea typeface="TT Drugs"/>
                <a:cs typeface="TT Drugs"/>
                <a:sym typeface="TT Drugs"/>
              </a:rPr>
              <a:t>Conducted via online survey</a:t>
            </a:r>
          </a:p>
          <a:p>
            <a:pPr marL="886794" lvl="1" indent="-443397" algn="l">
              <a:lnSpc>
                <a:spcPts val="7680"/>
              </a:lnSpc>
              <a:buFont typeface="Arial"/>
              <a:buChar char="•"/>
            </a:pPr>
            <a:r>
              <a:rPr lang="en-US" sz="4107">
                <a:solidFill>
                  <a:srgbClr val="FFFFFF"/>
                </a:solidFill>
                <a:latin typeface="TT Drugs"/>
                <a:ea typeface="TT Drugs"/>
                <a:cs typeface="TT Drugs"/>
                <a:sym typeface="TT Drugs"/>
              </a:rPr>
              <a:t>Convience sample</a:t>
            </a:r>
          </a:p>
          <a:p>
            <a:pPr marL="886794" lvl="1" indent="-443397" algn="l">
              <a:lnSpc>
                <a:spcPts val="7680"/>
              </a:lnSpc>
              <a:buFont typeface="Arial"/>
              <a:buChar char="•"/>
            </a:pPr>
            <a:r>
              <a:rPr lang="en-US" sz="4107">
                <a:solidFill>
                  <a:srgbClr val="FFFFFF"/>
                </a:solidFill>
                <a:latin typeface="TT Drugs"/>
                <a:ea typeface="TT Drugs"/>
                <a:cs typeface="TT Drugs"/>
                <a:sym typeface="TT Drugs"/>
              </a:rPr>
              <a:t>112 Respondents</a:t>
            </a:r>
          </a:p>
        </p:txBody>
      </p:sp>
    </p:spTree>
  </p:cSld>
  <p:clrMapOvr>
    <a:masterClrMapping/>
  </p:clrMapOvr>
  <p:transition spd="slow">
    <p:cover dir="ld"/>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2939585" y="2660660"/>
            <a:ext cx="12001776" cy="4065207"/>
          </a:xfrm>
          <a:custGeom>
            <a:avLst/>
            <a:gdLst/>
            <a:ahLst/>
            <a:cxnLst/>
            <a:rect l="l" t="t" r="r" b="b"/>
            <a:pathLst>
              <a:path w="12001776" h="4065207">
                <a:moveTo>
                  <a:pt x="0" y="0"/>
                </a:moveTo>
                <a:lnTo>
                  <a:pt x="12001777" y="0"/>
                </a:lnTo>
                <a:lnTo>
                  <a:pt x="12001777" y="4065207"/>
                </a:lnTo>
                <a:lnTo>
                  <a:pt x="0" y="406520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2607228" y="0"/>
            <a:ext cx="6070797" cy="10287000"/>
            <a:chOff x="0" y="0"/>
            <a:chExt cx="1598893" cy="2709333"/>
          </a:xfrm>
        </p:grpSpPr>
        <p:sp>
          <p:nvSpPr>
            <p:cNvPr id="4" name="Freeform 4"/>
            <p:cNvSpPr/>
            <p:nvPr/>
          </p:nvSpPr>
          <p:spPr>
            <a:xfrm>
              <a:off x="0" y="0"/>
              <a:ext cx="1598893" cy="2709333"/>
            </a:xfrm>
            <a:custGeom>
              <a:avLst/>
              <a:gdLst/>
              <a:ahLst/>
              <a:cxnLst/>
              <a:rect l="l" t="t" r="r" b="b"/>
              <a:pathLst>
                <a:path w="1598893" h="2709333">
                  <a:moveTo>
                    <a:pt x="0" y="0"/>
                  </a:moveTo>
                  <a:lnTo>
                    <a:pt x="1598893" y="0"/>
                  </a:lnTo>
                  <a:lnTo>
                    <a:pt x="1598893" y="2709333"/>
                  </a:lnTo>
                  <a:lnTo>
                    <a:pt x="0" y="2709333"/>
                  </a:lnTo>
                  <a:close/>
                </a:path>
              </a:pathLst>
            </a:custGeom>
            <a:solidFill>
              <a:srgbClr val="E963B5"/>
            </a:solidFill>
          </p:spPr>
          <p:txBody>
            <a:bodyPr/>
            <a:lstStyle/>
            <a:p>
              <a:endParaRPr lang="en-US"/>
            </a:p>
          </p:txBody>
        </p:sp>
        <p:sp>
          <p:nvSpPr>
            <p:cNvPr id="5" name="TextBox 5"/>
            <p:cNvSpPr txBox="1"/>
            <p:nvPr/>
          </p:nvSpPr>
          <p:spPr>
            <a:xfrm>
              <a:off x="0" y="19050"/>
              <a:ext cx="1598893" cy="2690283"/>
            </a:xfrm>
            <a:prstGeom prst="rect">
              <a:avLst/>
            </a:prstGeom>
          </p:spPr>
          <p:txBody>
            <a:bodyPr lIns="50800" tIns="50800" rIns="50800" bIns="50800" rtlCol="0" anchor="ctr"/>
            <a:lstStyle/>
            <a:p>
              <a:pPr algn="ctr">
                <a:lnSpc>
                  <a:spcPts val="2616"/>
                </a:lnSpc>
              </a:pPr>
              <a:endParaRPr/>
            </a:p>
          </p:txBody>
        </p:sp>
      </p:grpSp>
      <p:sp>
        <p:nvSpPr>
          <p:cNvPr id="6" name="TextBox 6"/>
          <p:cNvSpPr txBox="1"/>
          <p:nvPr/>
        </p:nvSpPr>
        <p:spPr>
          <a:xfrm>
            <a:off x="428170" y="3427764"/>
            <a:ext cx="7708820" cy="2835799"/>
          </a:xfrm>
          <a:prstGeom prst="rect">
            <a:avLst/>
          </a:prstGeom>
        </p:spPr>
        <p:txBody>
          <a:bodyPr lIns="0" tIns="0" rIns="0" bIns="0" rtlCol="0" anchor="t">
            <a:spAutoFit/>
          </a:bodyPr>
          <a:lstStyle/>
          <a:p>
            <a:pPr algn="ctr">
              <a:lnSpc>
                <a:spcPts val="10774"/>
              </a:lnSpc>
            </a:pPr>
            <a:r>
              <a:rPr lang="en-US" sz="11711" b="1">
                <a:solidFill>
                  <a:srgbClr val="FDFBFB"/>
                </a:solidFill>
                <a:latin typeface="TT Drugs Bold"/>
                <a:ea typeface="TT Drugs Bold"/>
                <a:cs typeface="TT Drugs Bold"/>
                <a:sym typeface="TT Drugs Bold"/>
              </a:rPr>
              <a:t>Recap of objectives</a:t>
            </a:r>
          </a:p>
        </p:txBody>
      </p:sp>
      <p:sp>
        <p:nvSpPr>
          <p:cNvPr id="7" name="TextBox 7"/>
          <p:cNvSpPr txBox="1"/>
          <p:nvPr/>
        </p:nvSpPr>
        <p:spPr>
          <a:xfrm>
            <a:off x="8970052" y="2255384"/>
            <a:ext cx="8885767" cy="4875758"/>
          </a:xfrm>
          <a:prstGeom prst="rect">
            <a:avLst/>
          </a:prstGeom>
        </p:spPr>
        <p:txBody>
          <a:bodyPr lIns="0" tIns="0" rIns="0" bIns="0" rtlCol="0" anchor="t">
            <a:spAutoFit/>
          </a:bodyPr>
          <a:lstStyle/>
          <a:p>
            <a:pPr marL="606131" lvl="1" indent="-303065" algn="l">
              <a:lnSpc>
                <a:spcPts val="6485"/>
              </a:lnSpc>
              <a:buFont typeface="Arial"/>
              <a:buChar char="•"/>
            </a:pPr>
            <a:r>
              <a:rPr lang="en-US" sz="2807" dirty="0">
                <a:solidFill>
                  <a:srgbClr val="FFFFFF"/>
                </a:solidFill>
                <a:latin typeface="TT Drugs"/>
                <a:ea typeface="TT Drugs"/>
                <a:cs typeface="TT Drugs"/>
                <a:sym typeface="TT Drugs"/>
              </a:rPr>
              <a:t>OB: Identify how American consumers </a:t>
            </a:r>
            <a:r>
              <a:rPr lang="en-US" sz="2807" b="1" dirty="0">
                <a:solidFill>
                  <a:srgbClr val="E963B5"/>
                </a:solidFill>
                <a:latin typeface="TT Drugs Bold"/>
                <a:ea typeface="TT Drugs Bold"/>
                <a:cs typeface="TT Drugs Bold"/>
                <a:sym typeface="TT Drugs Bold"/>
              </a:rPr>
              <a:t>currently perceive Cambodian products</a:t>
            </a:r>
            <a:r>
              <a:rPr lang="en-US" sz="2807" dirty="0">
                <a:solidFill>
                  <a:srgbClr val="FFFFFF"/>
                </a:solidFill>
                <a:latin typeface="TT Drugs"/>
                <a:ea typeface="TT Drugs"/>
                <a:cs typeface="TT Drugs"/>
                <a:sym typeface="TT Drugs"/>
              </a:rPr>
              <a:t>, including their views on quality, sustainability, </a:t>
            </a:r>
            <a:r>
              <a:rPr lang="en-US" sz="2807" dirty="0">
                <a:solidFill>
                  <a:srgbClr val="FDFBFB"/>
                </a:solidFill>
                <a:latin typeface="TT Drugs"/>
                <a:ea typeface="TT Drugs"/>
                <a:cs typeface="TT Drugs"/>
                <a:sym typeface="TT Drugs"/>
              </a:rPr>
              <a:t>authenticity, and value, to </a:t>
            </a:r>
            <a:r>
              <a:rPr lang="en-US" sz="2807" b="1" dirty="0">
                <a:solidFill>
                  <a:srgbClr val="E963B5"/>
                </a:solidFill>
                <a:latin typeface="TT Drugs Bold"/>
                <a:ea typeface="TT Drugs Bold"/>
                <a:cs typeface="TT Drugs Bold"/>
                <a:sym typeface="TT Drugs Bold"/>
              </a:rPr>
              <a:t>determine </a:t>
            </a:r>
            <a:r>
              <a:rPr lang="en-US" sz="2807" dirty="0">
                <a:solidFill>
                  <a:srgbClr val="FDFBFB"/>
                </a:solidFill>
                <a:latin typeface="TT Drugs"/>
                <a:ea typeface="TT Drugs"/>
                <a:cs typeface="TT Drugs"/>
                <a:sym typeface="TT Drugs"/>
              </a:rPr>
              <a:t>whether </a:t>
            </a:r>
            <a:r>
              <a:rPr lang="en-US" sz="2807" dirty="0" err="1">
                <a:solidFill>
                  <a:srgbClr val="FDFBFB"/>
                </a:solidFill>
                <a:latin typeface="TT Drugs"/>
                <a:ea typeface="TT Drugs"/>
                <a:cs typeface="TT Drugs"/>
                <a:sym typeface="TT Drugs"/>
              </a:rPr>
              <a:t>ReMade</a:t>
            </a:r>
            <a:r>
              <a:rPr lang="en-US" sz="2807" dirty="0">
                <a:solidFill>
                  <a:srgbClr val="FDFBFB"/>
                </a:solidFill>
                <a:latin typeface="TT Drugs"/>
                <a:ea typeface="TT Drugs"/>
                <a:cs typeface="TT Drugs"/>
                <a:sym typeface="TT Drugs"/>
              </a:rPr>
              <a:t> is seen as </a:t>
            </a:r>
            <a:r>
              <a:rPr lang="en-US" sz="2807" b="1" dirty="0">
                <a:solidFill>
                  <a:srgbClr val="E963B5"/>
                </a:solidFill>
                <a:latin typeface="TT Drugs Bold"/>
                <a:ea typeface="TT Drugs Bold"/>
                <a:cs typeface="TT Drugs Bold"/>
                <a:sym typeface="TT Drugs Bold"/>
              </a:rPr>
              <a:t>desirable</a:t>
            </a:r>
            <a:r>
              <a:rPr lang="en-US" sz="2807" dirty="0">
                <a:solidFill>
                  <a:srgbClr val="FDFBFB"/>
                </a:solidFill>
                <a:latin typeface="TT Drugs"/>
                <a:ea typeface="TT Drugs"/>
                <a:cs typeface="TT Drugs"/>
                <a:sym typeface="TT Drugs"/>
              </a:rPr>
              <a:t>. </a:t>
            </a:r>
          </a:p>
          <a:p>
            <a:pPr algn="just">
              <a:lnSpc>
                <a:spcPts val="6485"/>
              </a:lnSpc>
            </a:pPr>
            <a:endParaRPr lang="en-US" sz="2807" dirty="0">
              <a:solidFill>
                <a:srgbClr val="FDFBFB"/>
              </a:solidFill>
              <a:latin typeface="TT Drugs"/>
              <a:ea typeface="TT Drugs"/>
              <a:cs typeface="TT Drugs"/>
              <a:sym typeface="TT Drugs"/>
            </a:endParaRPr>
          </a:p>
        </p:txBody>
      </p:sp>
    </p:spTree>
  </p:cSld>
  <p:clrMapOvr>
    <a:masterClrMapping/>
  </p:clrMapOvr>
  <p:transition spd="slow">
    <p:cover dir="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BD0D891-6416-53E5-BD4D-14DD30D375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9CB6CA7-1337-3BF6-78FF-08A76C379844}"/>
              </a:ext>
            </a:extLst>
          </p:cNvPr>
          <p:cNvSpPr/>
          <p:nvPr/>
        </p:nvSpPr>
        <p:spPr>
          <a:xfrm rot="-5400000">
            <a:off x="-2939585" y="2660660"/>
            <a:ext cx="12001776" cy="4065207"/>
          </a:xfrm>
          <a:custGeom>
            <a:avLst/>
            <a:gdLst/>
            <a:ahLst/>
            <a:cxnLst/>
            <a:rect l="l" t="t" r="r" b="b"/>
            <a:pathLst>
              <a:path w="12001776" h="4065207">
                <a:moveTo>
                  <a:pt x="0" y="0"/>
                </a:moveTo>
                <a:lnTo>
                  <a:pt x="12001777" y="0"/>
                </a:lnTo>
                <a:lnTo>
                  <a:pt x="12001777" y="4065207"/>
                </a:lnTo>
                <a:lnTo>
                  <a:pt x="0" y="406520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a:extLst>
              <a:ext uri="{FF2B5EF4-FFF2-40B4-BE49-F238E27FC236}">
                <a16:creationId xmlns:a16="http://schemas.microsoft.com/office/drawing/2014/main" id="{4DF78E9B-9F76-5812-57D0-3C725FD8C793}"/>
              </a:ext>
            </a:extLst>
          </p:cNvPr>
          <p:cNvGrpSpPr/>
          <p:nvPr/>
        </p:nvGrpSpPr>
        <p:grpSpPr>
          <a:xfrm>
            <a:off x="-2607228" y="0"/>
            <a:ext cx="6070797" cy="10287000"/>
            <a:chOff x="0" y="0"/>
            <a:chExt cx="1598893" cy="2709333"/>
          </a:xfrm>
        </p:grpSpPr>
        <p:sp>
          <p:nvSpPr>
            <p:cNvPr id="4" name="Freeform 4">
              <a:extLst>
                <a:ext uri="{FF2B5EF4-FFF2-40B4-BE49-F238E27FC236}">
                  <a16:creationId xmlns:a16="http://schemas.microsoft.com/office/drawing/2014/main" id="{3DB7614B-8678-4955-50F9-74F8EE7B4E7D}"/>
                </a:ext>
              </a:extLst>
            </p:cNvPr>
            <p:cNvSpPr/>
            <p:nvPr/>
          </p:nvSpPr>
          <p:spPr>
            <a:xfrm>
              <a:off x="0" y="0"/>
              <a:ext cx="1598893" cy="2709333"/>
            </a:xfrm>
            <a:custGeom>
              <a:avLst/>
              <a:gdLst/>
              <a:ahLst/>
              <a:cxnLst/>
              <a:rect l="l" t="t" r="r" b="b"/>
              <a:pathLst>
                <a:path w="1598893" h="2709333">
                  <a:moveTo>
                    <a:pt x="0" y="0"/>
                  </a:moveTo>
                  <a:lnTo>
                    <a:pt x="1598893" y="0"/>
                  </a:lnTo>
                  <a:lnTo>
                    <a:pt x="1598893" y="2709333"/>
                  </a:lnTo>
                  <a:lnTo>
                    <a:pt x="0" y="2709333"/>
                  </a:lnTo>
                  <a:close/>
                </a:path>
              </a:pathLst>
            </a:custGeom>
            <a:solidFill>
              <a:srgbClr val="E963B5"/>
            </a:solidFill>
          </p:spPr>
          <p:txBody>
            <a:bodyPr/>
            <a:lstStyle/>
            <a:p>
              <a:endParaRPr lang="en-US"/>
            </a:p>
          </p:txBody>
        </p:sp>
        <p:sp>
          <p:nvSpPr>
            <p:cNvPr id="5" name="TextBox 5">
              <a:extLst>
                <a:ext uri="{FF2B5EF4-FFF2-40B4-BE49-F238E27FC236}">
                  <a16:creationId xmlns:a16="http://schemas.microsoft.com/office/drawing/2014/main" id="{D190030A-457A-466D-B9E8-5F7516AE547B}"/>
                </a:ext>
              </a:extLst>
            </p:cNvPr>
            <p:cNvSpPr txBox="1"/>
            <p:nvPr/>
          </p:nvSpPr>
          <p:spPr>
            <a:xfrm>
              <a:off x="0" y="19050"/>
              <a:ext cx="1598893" cy="2690283"/>
            </a:xfrm>
            <a:prstGeom prst="rect">
              <a:avLst/>
            </a:prstGeom>
          </p:spPr>
          <p:txBody>
            <a:bodyPr lIns="50800" tIns="50800" rIns="50800" bIns="50800" rtlCol="0" anchor="ctr"/>
            <a:lstStyle/>
            <a:p>
              <a:pPr algn="ctr">
                <a:lnSpc>
                  <a:spcPts val="2616"/>
                </a:lnSpc>
              </a:pPr>
              <a:endParaRPr/>
            </a:p>
          </p:txBody>
        </p:sp>
      </p:grpSp>
      <p:pic>
        <p:nvPicPr>
          <p:cNvPr id="9" name="Picture 8" descr="A table with numbers and letters&#10;&#10;Description automatically generated">
            <a:extLst>
              <a:ext uri="{FF2B5EF4-FFF2-40B4-BE49-F238E27FC236}">
                <a16:creationId xmlns:a16="http://schemas.microsoft.com/office/drawing/2014/main" id="{8B1C43F5-7BF4-4B4E-49BD-32B7690AB5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24771" y="828675"/>
            <a:ext cx="11638457" cy="8629650"/>
          </a:xfrm>
          <a:prstGeom prst="rect">
            <a:avLst/>
          </a:prstGeom>
        </p:spPr>
      </p:pic>
    </p:spTree>
    <p:extLst>
      <p:ext uri="{BB962C8B-B14F-4D97-AF65-F5344CB8AC3E}">
        <p14:creationId xmlns:p14="http://schemas.microsoft.com/office/powerpoint/2010/main" val="1607874433"/>
      </p:ext>
    </p:extLst>
  </p:cSld>
  <p:clrMapOvr>
    <a:masterClrMapping/>
  </p:clrMapOvr>
  <p:transition spd="slow">
    <p:cover dir="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233499C-25F5-4A0D-2133-281F8A3CC2E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9B3D15A-14B1-2D93-DC08-F10BD474925A}"/>
              </a:ext>
            </a:extLst>
          </p:cNvPr>
          <p:cNvSpPr/>
          <p:nvPr/>
        </p:nvSpPr>
        <p:spPr>
          <a:xfrm rot="-5400000">
            <a:off x="-2939585" y="2660660"/>
            <a:ext cx="12001776" cy="4065207"/>
          </a:xfrm>
          <a:custGeom>
            <a:avLst/>
            <a:gdLst/>
            <a:ahLst/>
            <a:cxnLst/>
            <a:rect l="l" t="t" r="r" b="b"/>
            <a:pathLst>
              <a:path w="12001776" h="4065207">
                <a:moveTo>
                  <a:pt x="0" y="0"/>
                </a:moveTo>
                <a:lnTo>
                  <a:pt x="12001777" y="0"/>
                </a:lnTo>
                <a:lnTo>
                  <a:pt x="12001777" y="4065207"/>
                </a:lnTo>
                <a:lnTo>
                  <a:pt x="0" y="406520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a:extLst>
              <a:ext uri="{FF2B5EF4-FFF2-40B4-BE49-F238E27FC236}">
                <a16:creationId xmlns:a16="http://schemas.microsoft.com/office/drawing/2014/main" id="{C995E924-2508-BE1F-EC1B-D4D4EB1C035F}"/>
              </a:ext>
            </a:extLst>
          </p:cNvPr>
          <p:cNvGrpSpPr/>
          <p:nvPr/>
        </p:nvGrpSpPr>
        <p:grpSpPr>
          <a:xfrm>
            <a:off x="-2607228" y="0"/>
            <a:ext cx="6070797" cy="10287000"/>
            <a:chOff x="0" y="0"/>
            <a:chExt cx="1598893" cy="2709333"/>
          </a:xfrm>
        </p:grpSpPr>
        <p:sp>
          <p:nvSpPr>
            <p:cNvPr id="4" name="Freeform 4">
              <a:extLst>
                <a:ext uri="{FF2B5EF4-FFF2-40B4-BE49-F238E27FC236}">
                  <a16:creationId xmlns:a16="http://schemas.microsoft.com/office/drawing/2014/main" id="{65249ACF-6B9A-7822-6C3E-FCC17B69BFAD}"/>
                </a:ext>
              </a:extLst>
            </p:cNvPr>
            <p:cNvSpPr/>
            <p:nvPr/>
          </p:nvSpPr>
          <p:spPr>
            <a:xfrm>
              <a:off x="0" y="0"/>
              <a:ext cx="1598893" cy="2709333"/>
            </a:xfrm>
            <a:custGeom>
              <a:avLst/>
              <a:gdLst/>
              <a:ahLst/>
              <a:cxnLst/>
              <a:rect l="l" t="t" r="r" b="b"/>
              <a:pathLst>
                <a:path w="1598893" h="2709333">
                  <a:moveTo>
                    <a:pt x="0" y="0"/>
                  </a:moveTo>
                  <a:lnTo>
                    <a:pt x="1598893" y="0"/>
                  </a:lnTo>
                  <a:lnTo>
                    <a:pt x="1598893" y="2709333"/>
                  </a:lnTo>
                  <a:lnTo>
                    <a:pt x="0" y="2709333"/>
                  </a:lnTo>
                  <a:close/>
                </a:path>
              </a:pathLst>
            </a:custGeom>
            <a:solidFill>
              <a:srgbClr val="E963B5"/>
            </a:solidFill>
          </p:spPr>
          <p:txBody>
            <a:bodyPr/>
            <a:lstStyle/>
            <a:p>
              <a:endParaRPr lang="en-US"/>
            </a:p>
          </p:txBody>
        </p:sp>
        <p:sp>
          <p:nvSpPr>
            <p:cNvPr id="5" name="TextBox 5">
              <a:extLst>
                <a:ext uri="{FF2B5EF4-FFF2-40B4-BE49-F238E27FC236}">
                  <a16:creationId xmlns:a16="http://schemas.microsoft.com/office/drawing/2014/main" id="{35566EDE-5B9C-1985-E1EA-64CE7026EE42}"/>
                </a:ext>
              </a:extLst>
            </p:cNvPr>
            <p:cNvSpPr txBox="1"/>
            <p:nvPr/>
          </p:nvSpPr>
          <p:spPr>
            <a:xfrm>
              <a:off x="0" y="19050"/>
              <a:ext cx="1598893" cy="2690283"/>
            </a:xfrm>
            <a:prstGeom prst="rect">
              <a:avLst/>
            </a:prstGeom>
          </p:spPr>
          <p:txBody>
            <a:bodyPr lIns="50800" tIns="50800" rIns="50800" bIns="50800" rtlCol="0" anchor="ctr"/>
            <a:lstStyle/>
            <a:p>
              <a:pPr algn="ctr">
                <a:lnSpc>
                  <a:spcPts val="2616"/>
                </a:lnSpc>
              </a:pPr>
              <a:endParaRPr/>
            </a:p>
          </p:txBody>
        </p:sp>
      </p:grpSp>
      <p:pic>
        <p:nvPicPr>
          <p:cNvPr id="9" name="Picture 8" descr="A screenshot of a computer&#10;&#10;Description automatically generated">
            <a:extLst>
              <a:ext uri="{FF2B5EF4-FFF2-40B4-BE49-F238E27FC236}">
                <a16:creationId xmlns:a16="http://schemas.microsoft.com/office/drawing/2014/main" id="{F346E89B-86F8-905B-D946-75978C3B1E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4600" y="2095500"/>
            <a:ext cx="12624001" cy="6096000"/>
          </a:xfrm>
          <a:prstGeom prst="rect">
            <a:avLst/>
          </a:prstGeom>
        </p:spPr>
      </p:pic>
    </p:spTree>
    <p:extLst>
      <p:ext uri="{BB962C8B-B14F-4D97-AF65-F5344CB8AC3E}">
        <p14:creationId xmlns:p14="http://schemas.microsoft.com/office/powerpoint/2010/main" val="1595283662"/>
      </p:ext>
    </p:extLst>
  </p:cSld>
  <p:clrMapOvr>
    <a:masterClrMapping/>
  </p:clrMapOvr>
  <p:transition spd="slow">
    <p:cover dir="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784240" y="345023"/>
            <a:ext cx="15229754" cy="1529279"/>
          </a:xfrm>
          <a:prstGeom prst="rect">
            <a:avLst/>
          </a:prstGeom>
        </p:spPr>
        <p:txBody>
          <a:bodyPr lIns="0" tIns="0" rIns="0" bIns="0" rtlCol="0" anchor="t">
            <a:spAutoFit/>
          </a:bodyPr>
          <a:lstStyle/>
          <a:p>
            <a:pPr algn="ctr">
              <a:lnSpc>
                <a:spcPts val="5804"/>
              </a:lnSpc>
            </a:pPr>
            <a:r>
              <a:rPr lang="en-US" sz="6309" b="1">
                <a:solidFill>
                  <a:srgbClr val="FDFBFB"/>
                </a:solidFill>
                <a:latin typeface="TT Drugs Bold"/>
                <a:ea typeface="TT Drugs Bold"/>
                <a:cs typeface="TT Drugs Bold"/>
                <a:sym typeface="TT Drugs Bold"/>
              </a:rPr>
              <a:t>What are participants purchase intention?</a:t>
            </a:r>
          </a:p>
        </p:txBody>
      </p:sp>
      <p:sp>
        <p:nvSpPr>
          <p:cNvPr id="3" name="Freeform 3"/>
          <p:cNvSpPr/>
          <p:nvPr/>
        </p:nvSpPr>
        <p:spPr>
          <a:xfrm rot="-5400000">
            <a:off x="-6785128" y="3624957"/>
            <a:ext cx="12001776" cy="4065207"/>
          </a:xfrm>
          <a:custGeom>
            <a:avLst/>
            <a:gdLst/>
            <a:ahLst/>
            <a:cxnLst/>
            <a:rect l="l" t="t" r="r" b="b"/>
            <a:pathLst>
              <a:path w="12001776" h="4065207">
                <a:moveTo>
                  <a:pt x="0" y="0"/>
                </a:moveTo>
                <a:lnTo>
                  <a:pt x="12001776" y="0"/>
                </a:lnTo>
                <a:lnTo>
                  <a:pt x="12001776" y="4065207"/>
                </a:lnTo>
                <a:lnTo>
                  <a:pt x="0" y="4065207"/>
                </a:lnTo>
                <a:lnTo>
                  <a:pt x="0"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4" name="Picture 4"/>
          <p:cNvPicPr>
            <a:picLocks noChangeAspect="1"/>
          </p:cNvPicPr>
          <p:nvPr/>
        </p:nvPicPr>
        <p:blipFill>
          <a:blip r:embed="rId5"/>
          <a:stretch>
            <a:fillRect/>
          </a:stretch>
        </p:blipFill>
        <p:spPr>
          <a:xfrm>
            <a:off x="8579884" y="234332"/>
            <a:ext cx="9744777" cy="10966547"/>
          </a:xfrm>
          <a:prstGeom prst="rect">
            <a:avLst/>
          </a:prstGeom>
        </p:spPr>
      </p:pic>
      <p:sp>
        <p:nvSpPr>
          <p:cNvPr id="5" name="TextBox 5"/>
          <p:cNvSpPr txBox="1"/>
          <p:nvPr/>
        </p:nvSpPr>
        <p:spPr>
          <a:xfrm>
            <a:off x="1423245" y="2057418"/>
            <a:ext cx="7895637" cy="7747118"/>
          </a:xfrm>
          <a:prstGeom prst="rect">
            <a:avLst/>
          </a:prstGeom>
        </p:spPr>
        <p:txBody>
          <a:bodyPr lIns="0" tIns="0" rIns="0" bIns="0" rtlCol="0" anchor="t">
            <a:spAutoFit/>
          </a:bodyPr>
          <a:lstStyle/>
          <a:p>
            <a:pPr marL="516852" lvl="1" indent="-258426" algn="l">
              <a:lnSpc>
                <a:spcPts val="4404"/>
              </a:lnSpc>
              <a:buFont typeface="Arial"/>
              <a:buChar char="•"/>
            </a:pPr>
            <a:r>
              <a:rPr lang="en-US" sz="2393">
                <a:solidFill>
                  <a:srgbClr val="FDFBFB"/>
                </a:solidFill>
                <a:latin typeface="TT Drugs"/>
                <a:ea typeface="TT Drugs"/>
                <a:cs typeface="TT Drugs"/>
                <a:sym typeface="TT Drugs"/>
              </a:rPr>
              <a:t>Overall confidence in clothing quality regarding a product with a ‘Made in Cambodia’ label had a strong positive correlation with Q7 (purchase intention ) with an r-value of .463 and a  p &lt; .05.</a:t>
            </a:r>
          </a:p>
          <a:p>
            <a:pPr algn="l">
              <a:lnSpc>
                <a:spcPts val="4404"/>
              </a:lnSpc>
            </a:pPr>
            <a:endParaRPr lang="en-US" sz="2393">
              <a:solidFill>
                <a:srgbClr val="FDFBFB"/>
              </a:solidFill>
              <a:latin typeface="TT Drugs"/>
              <a:ea typeface="TT Drugs"/>
              <a:cs typeface="TT Drugs"/>
              <a:sym typeface="TT Drugs"/>
            </a:endParaRPr>
          </a:p>
          <a:p>
            <a:pPr marL="516852" lvl="1" indent="-258426" algn="l">
              <a:lnSpc>
                <a:spcPts val="4404"/>
              </a:lnSpc>
              <a:buFont typeface="Arial"/>
              <a:buChar char="•"/>
            </a:pPr>
            <a:r>
              <a:rPr lang="en-US" sz="2393">
                <a:solidFill>
                  <a:srgbClr val="FDFBFB"/>
                </a:solidFill>
                <a:latin typeface="TT Drugs"/>
                <a:ea typeface="TT Drugs"/>
                <a:cs typeface="TT Drugs"/>
                <a:sym typeface="TT Drugs"/>
              </a:rPr>
              <a:t>Image-based quality perception : how good the clothing looked in the pictures attached to Q4,  — had a moderate correlation with purchase intention with an r value of  .385, and a p &lt; .05.</a:t>
            </a:r>
          </a:p>
          <a:p>
            <a:pPr algn="l">
              <a:lnSpc>
                <a:spcPts val="4404"/>
              </a:lnSpc>
            </a:pPr>
            <a:endParaRPr lang="en-US" sz="2393">
              <a:solidFill>
                <a:srgbClr val="FDFBFB"/>
              </a:solidFill>
              <a:latin typeface="TT Drugs"/>
              <a:ea typeface="TT Drugs"/>
              <a:cs typeface="TT Drugs"/>
              <a:sym typeface="TT Drugs"/>
            </a:endParaRPr>
          </a:p>
          <a:p>
            <a:pPr marL="516852" lvl="1" indent="-258426" algn="l">
              <a:lnSpc>
                <a:spcPts val="4404"/>
              </a:lnSpc>
              <a:buFont typeface="Arial"/>
              <a:buChar char="•"/>
            </a:pPr>
            <a:r>
              <a:rPr lang="en-US" sz="2393">
                <a:solidFill>
                  <a:srgbClr val="FDFBFB"/>
                </a:solidFill>
                <a:latin typeface="TT Drugs"/>
                <a:ea typeface="TT Drugs"/>
                <a:cs typeface="TT Drugs"/>
                <a:sym typeface="TT Drugs"/>
              </a:rPr>
              <a:t>Cambodian made products show strong craftsmanship had a slight correlation with purchase intention with an r-value of 0.255 and a p-value &lt;.05.</a:t>
            </a:r>
          </a:p>
        </p:txBody>
      </p:sp>
    </p:spTree>
  </p:cSld>
  <p:clrMapOvr>
    <a:masterClrMapping/>
  </p:clrMapOvr>
  <p:transition spd="slow">
    <p:cover dir="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784240" y="345023"/>
            <a:ext cx="15229754" cy="1529279"/>
          </a:xfrm>
          <a:prstGeom prst="rect">
            <a:avLst/>
          </a:prstGeom>
        </p:spPr>
        <p:txBody>
          <a:bodyPr lIns="0" tIns="0" rIns="0" bIns="0" rtlCol="0" anchor="t">
            <a:spAutoFit/>
          </a:bodyPr>
          <a:lstStyle/>
          <a:p>
            <a:pPr algn="ctr">
              <a:lnSpc>
                <a:spcPts val="5804"/>
              </a:lnSpc>
            </a:pPr>
            <a:r>
              <a:rPr lang="en-US" sz="6309" b="1">
                <a:solidFill>
                  <a:srgbClr val="FDFBFB"/>
                </a:solidFill>
                <a:latin typeface="TT Drugs Bold"/>
                <a:ea typeface="TT Drugs Bold"/>
                <a:cs typeface="TT Drugs Bold"/>
                <a:sym typeface="TT Drugs Bold"/>
              </a:rPr>
              <a:t>What are participants purchase intention?</a:t>
            </a:r>
          </a:p>
        </p:txBody>
      </p:sp>
      <p:sp>
        <p:nvSpPr>
          <p:cNvPr id="3" name="Freeform 3"/>
          <p:cNvSpPr/>
          <p:nvPr/>
        </p:nvSpPr>
        <p:spPr>
          <a:xfrm rot="-5400000">
            <a:off x="-6785128" y="3624957"/>
            <a:ext cx="12001776" cy="4065207"/>
          </a:xfrm>
          <a:custGeom>
            <a:avLst/>
            <a:gdLst/>
            <a:ahLst/>
            <a:cxnLst/>
            <a:rect l="l" t="t" r="r" b="b"/>
            <a:pathLst>
              <a:path w="12001776" h="4065207">
                <a:moveTo>
                  <a:pt x="0" y="0"/>
                </a:moveTo>
                <a:lnTo>
                  <a:pt x="12001776" y="0"/>
                </a:lnTo>
                <a:lnTo>
                  <a:pt x="12001776" y="4065207"/>
                </a:lnTo>
                <a:lnTo>
                  <a:pt x="0" y="4065207"/>
                </a:lnTo>
                <a:lnTo>
                  <a:pt x="0" y="0"/>
                </a:lnTo>
                <a:close/>
              </a:path>
            </a:pathLst>
          </a:custGeom>
          <a:blipFill>
            <a:blip r:embed="rId3">
              <a:alphaModFix amt="50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1432613" y="2242695"/>
            <a:ext cx="9006650" cy="6534933"/>
          </a:xfrm>
          <a:prstGeom prst="rect">
            <a:avLst/>
          </a:prstGeom>
        </p:spPr>
        <p:txBody>
          <a:bodyPr lIns="0" tIns="0" rIns="0" bIns="0" rtlCol="0" anchor="t">
            <a:spAutoFit/>
          </a:bodyPr>
          <a:lstStyle/>
          <a:p>
            <a:pPr marL="990605" lvl="2" indent="-330202" algn="l">
              <a:lnSpc>
                <a:spcPts val="4771"/>
              </a:lnSpc>
              <a:buFont typeface="Arial"/>
              <a:buChar char="⚬"/>
            </a:pPr>
            <a:r>
              <a:rPr lang="en-US" sz="2294">
                <a:solidFill>
                  <a:srgbClr val="FDFBFB"/>
                </a:solidFill>
                <a:latin typeface="TT Drugs"/>
                <a:ea typeface="TT Drugs"/>
                <a:cs typeface="TT Drugs"/>
                <a:sym typeface="TT Drugs"/>
              </a:rPr>
              <a:t>Based on these findings we recommend ReMade in Cambodia to focus their marketing strategy on  showcasing:</a:t>
            </a:r>
          </a:p>
          <a:p>
            <a:pPr marL="990605" lvl="2" indent="-330202" algn="l">
              <a:lnSpc>
                <a:spcPts val="4771"/>
              </a:lnSpc>
              <a:buFont typeface="Arial"/>
              <a:buChar char="⚬"/>
            </a:pPr>
            <a:r>
              <a:rPr lang="en-US" sz="2294">
                <a:solidFill>
                  <a:srgbClr val="FDFBFB"/>
                </a:solidFill>
                <a:latin typeface="TT Drugs"/>
                <a:ea typeface="TT Drugs"/>
                <a:cs typeface="TT Drugs"/>
                <a:sym typeface="TT Drugs"/>
              </a:rPr>
              <a:t>Quality demonstrated through clear visuals of the stitching, fabric, and other key garment details</a:t>
            </a:r>
          </a:p>
          <a:p>
            <a:pPr marL="990605" lvl="2" indent="-330202" algn="l">
              <a:lnSpc>
                <a:spcPts val="4771"/>
              </a:lnSpc>
              <a:buFont typeface="Arial"/>
              <a:buChar char="⚬"/>
            </a:pPr>
            <a:r>
              <a:rPr lang="en-US" sz="2294">
                <a:solidFill>
                  <a:srgbClr val="FDFBFB"/>
                </a:solidFill>
                <a:latin typeface="TT Drugs"/>
                <a:ea typeface="TT Drugs"/>
                <a:cs typeface="TT Drugs"/>
                <a:sym typeface="TT Drugs"/>
              </a:rPr>
              <a:t>How the garments fit on body types and sizes</a:t>
            </a:r>
          </a:p>
          <a:p>
            <a:pPr marL="990605" lvl="2" indent="-330202" algn="l">
              <a:lnSpc>
                <a:spcPts val="4771"/>
              </a:lnSpc>
              <a:buFont typeface="Arial"/>
              <a:buChar char="⚬"/>
            </a:pPr>
            <a:r>
              <a:rPr lang="en-US" sz="2294">
                <a:solidFill>
                  <a:srgbClr val="FDFBFB"/>
                </a:solidFill>
                <a:latin typeface="TT Drugs"/>
                <a:ea typeface="TT Drugs"/>
                <a:cs typeface="TT Drugs"/>
                <a:sym typeface="TT Drugs"/>
              </a:rPr>
              <a:t> Short stories of the Cambodian artisans behind the products on social media </a:t>
            </a:r>
          </a:p>
          <a:p>
            <a:pPr marL="990605" lvl="2" indent="-330202" algn="l">
              <a:lnSpc>
                <a:spcPts val="4771"/>
              </a:lnSpc>
              <a:buFont typeface="Arial"/>
              <a:buChar char="⚬"/>
            </a:pPr>
            <a:r>
              <a:rPr lang="en-US" sz="2294">
                <a:solidFill>
                  <a:srgbClr val="FDFBFB"/>
                </a:solidFill>
                <a:latin typeface="TT Drugs"/>
                <a:ea typeface="TT Drugs"/>
                <a:cs typeface="TT Drugs"/>
                <a:sym typeface="TT Drugs"/>
              </a:rPr>
              <a:t> The upcycling and design techniques used to transform discarded textiles into new, creative fashion pieces</a:t>
            </a:r>
          </a:p>
          <a:p>
            <a:pPr algn="l">
              <a:lnSpc>
                <a:spcPts val="4771"/>
              </a:lnSpc>
            </a:pPr>
            <a:endParaRPr lang="en-US" sz="2294">
              <a:solidFill>
                <a:srgbClr val="FDFBFB"/>
              </a:solidFill>
              <a:latin typeface="TT Drugs"/>
              <a:ea typeface="TT Drugs"/>
              <a:cs typeface="TT Drugs"/>
              <a:sym typeface="TT Drugs"/>
            </a:endParaRPr>
          </a:p>
        </p:txBody>
      </p:sp>
      <p:pic>
        <p:nvPicPr>
          <p:cNvPr id="5" name="Picture 5"/>
          <p:cNvPicPr>
            <a:picLocks noChangeAspect="1"/>
          </p:cNvPicPr>
          <p:nvPr/>
        </p:nvPicPr>
        <p:blipFill>
          <a:blip r:embed="rId5"/>
          <a:stretch>
            <a:fillRect/>
          </a:stretch>
        </p:blipFill>
        <p:spPr>
          <a:xfrm>
            <a:off x="8579884" y="234332"/>
            <a:ext cx="9744777" cy="10966547"/>
          </a:xfrm>
          <a:prstGeom prst="rect">
            <a:avLst/>
          </a:prstGeom>
        </p:spPr>
      </p:pic>
    </p:spTree>
  </p:cSld>
  <p:clrMapOvr>
    <a:masterClrMapping/>
  </p:clrMapOvr>
  <p:transition spd="slow">
    <p:cover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922</Words>
  <Application>Microsoft Macintosh PowerPoint</Application>
  <PresentationFormat>Custom</PresentationFormat>
  <Paragraphs>56</Paragraphs>
  <Slides>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TT Drugs Bold</vt:lpstr>
      <vt:lpstr>Calibri</vt:lpstr>
      <vt:lpstr>TT Drugs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Final Presentation</dc:title>
  <cp:lastModifiedBy>Marina Carles</cp:lastModifiedBy>
  <cp:revision>5</cp:revision>
  <dcterms:created xsi:type="dcterms:W3CDTF">2006-08-16T00:00:00Z</dcterms:created>
  <dcterms:modified xsi:type="dcterms:W3CDTF">2026-05-20T22:21:31Z</dcterms:modified>
  <dc:identifier>DAG4mmD4mmU</dc:identifier>
</cp:coreProperties>
</file>